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DE643-42C4-EECB-D684-FFE03763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5E1CB-33FD-7192-F40D-A9B1FEA66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C7B6A-DDD7-2AA7-7DEC-209A263F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4402D-0AC7-DFB4-B566-1B8CC1D814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78517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D19B-14F2-1160-97CF-F02E470D1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4C04C-95F7-12FE-FE7D-E1F9EB23B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21D86-2E85-554D-5282-CEFB9B63B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20780-E06C-208B-6040-B2493C2CEDD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42480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BE4A4-0679-B31A-9055-9C41654F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10FF5-BB3E-BCA3-4B49-477D53473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BC515-CC3E-8F27-9262-7912E3886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D9C1C-FADB-9952-227B-065C14A85EB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0754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0" y="0"/>
            <a:ext cx="7620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857250"/>
            <a:ext cx="31432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Learning-Based Quadruped Locomotion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26695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PPO policy training for Unitree Go1 in NVIDIA Isaac Lab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5657850"/>
            <a:ext cx="295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ECE 489 / ME 446 Final Project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9626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Hayk Soghomonyan and Siqi Pan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810125" y="914400"/>
            <a:ext cx="5715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095875" y="11430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Project 1, Approach B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095875" y="1457325"/>
            <a:ext cx="5048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Train a robust quadruped locomotion policy that tracks commanded velocity on flat and challenging terrain.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810125" y="2905125"/>
            <a:ext cx="1762125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10125" y="2905125"/>
            <a:ext cx="47625" cy="11239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981575" y="3038475"/>
            <a:ext cx="147637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Go1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981575" y="3409950"/>
            <a:ext cx="147637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robot model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81575" y="3648075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12 actuated leg joints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934200" y="2905125"/>
            <a:ext cx="1762125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934200" y="2905125"/>
            <a:ext cx="47625" cy="11239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105650" y="3038475"/>
            <a:ext cx="147637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PPO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105650" y="3409950"/>
            <a:ext cx="147637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learning method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105650" y="3648075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RSL-RL in Isaac Lab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58275" y="2905125"/>
            <a:ext cx="1762125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58275" y="2905125"/>
            <a:ext cx="47625" cy="11239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229725" y="3038475"/>
            <a:ext cx="147637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229725" y="3409950"/>
            <a:ext cx="147637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demo conditions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29725" y="3648075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flat and rough terrain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810125" y="4600575"/>
            <a:ext cx="6010275" cy="800100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095875" y="4838700"/>
            <a:ext cx="538162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Demo order: flat policy rollout, then rough-terrain policy rollout.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ECE 489 / ME 446 Final Project | Learning-Based Quadruped Locomotion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333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PROJECT SCOPE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00075"/>
            <a:ext cx="990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We implemented the learning-based locomotion track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52525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final demo focuses on the core quadruped objective from our proposal: stable Go1 locomotion in simulation.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2400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1952625"/>
            <a:ext cx="49530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2669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Original proposal objective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28575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19200" y="2781300"/>
            <a:ext cx="400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Use NVIDIA Isaac Lab for GPU-parallel RL simulation.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3324225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19200" y="3248025"/>
            <a:ext cx="400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Train Unitree Go1 with PPO for velocity tracking.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47750" y="37909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19200" y="3714750"/>
            <a:ext cx="400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Evaluate behavior on flat and challenging terrain.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47750" y="4257675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19200" y="4181475"/>
            <a:ext cx="400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Use domain randomization and terrain curriculum for robustness.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29375" y="1952625"/>
            <a:ext cx="4333875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734175" y="226695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Delivered in final demo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734175" y="2724150"/>
            <a:ext cx="16764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734175" y="2724150"/>
            <a:ext cx="47625" cy="1200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905625" y="2857500"/>
            <a:ext cx="13906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800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905625" y="3228975"/>
            <a:ext cx="13906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flat iterations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905625" y="346710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checkpoint model_799.pt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05850" y="2724150"/>
            <a:ext cx="16764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05850" y="2724150"/>
            <a:ext cx="47625" cy="12001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877300" y="2857500"/>
            <a:ext cx="13906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1500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877300" y="3228975"/>
            <a:ext cx="13906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rough iterations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877300" y="346710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checkpoint model_1499.pt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734175" y="4219575"/>
            <a:ext cx="3429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scope stayed with the core objective: quadruped locomotion under both flat and challenging terrain conditions.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project proposal and final project requirements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333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RL FORMULATION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00075"/>
            <a:ext cx="990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Policy maps observations to joint targets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52525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high-level policy outputs desired joint positions for the Go1 low-level PD controller.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2400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114550"/>
            <a:ext cx="2238375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114550"/>
            <a:ext cx="2238375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2305050"/>
            <a:ext cx="19145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16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Observations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4875" y="2619375"/>
            <a:ext cx="1914525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motion, gravity, joint states, previous action, velocity command, and rough-terrain height scan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76625" y="2114550"/>
            <a:ext cx="2238375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76625" y="2114550"/>
            <a:ext cx="2238375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38550" y="2305050"/>
            <a:ext cx="19145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165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Policy network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38550" y="2619375"/>
            <a:ext cx="1914525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PPO actor-critic MLP. The rough policy keeps terrain context; the flat policy removes it.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10300" y="2114550"/>
            <a:ext cx="2238375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10300" y="2114550"/>
            <a:ext cx="2238375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72225" y="2305050"/>
            <a:ext cx="19145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16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Actions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72225" y="2619375"/>
            <a:ext cx="1914525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12 joint-position targets, one for each Go1 leg motor.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43975" y="2114550"/>
            <a:ext cx="2238375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943975" y="2114550"/>
            <a:ext cx="2238375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05900" y="2305050"/>
            <a:ext cx="19145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16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Simulation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05900" y="2619375"/>
            <a:ext cx="1914525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Parallel Isaac Lab environments update contacts, rewards, resets, and terrain.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028950" y="2867025"/>
            <a:ext cx="4000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62625" y="2867025"/>
            <a:ext cx="4000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496300" y="2867025"/>
            <a:ext cx="4000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305050" y="4286250"/>
            <a:ext cx="7620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305050" y="4286250"/>
            <a:ext cx="762000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466975" y="4476750"/>
            <a:ext cx="7296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16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Reward objective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466975" y="4791075"/>
            <a:ext cx="72961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Track commanded velocity while staying upright, avoiding body contact, limiting effort, and encouraging useful foot swing.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ECE 489 / ME 446 Final Project | Learning-Based Quadruped Locomotion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333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00075"/>
            <a:ext cx="990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We built a simulation-to-training pipeline in Isaac Lab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52525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workflow converts the project objective into repeatable flat and rough terrain PPO experiments.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2400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2076450"/>
            <a:ext cx="23812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2076450"/>
            <a:ext cx="238125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3431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Robot and terrain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819400"/>
            <a:ext cx="19621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Unitree Go1 is simulated under two conditions: a flat plane and generated rough terrain.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38550" y="2076450"/>
            <a:ext cx="23812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38550" y="2076450"/>
            <a:ext cx="23812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48100" y="23431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Observation and reward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48100" y="2819400"/>
            <a:ext cx="19621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policy observes robot motion, joint state, commands, and rough-terrain height scan. Rewards encourage velocity tracking and safe contacts.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57950" y="2076450"/>
            <a:ext cx="23812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57950" y="2076450"/>
            <a:ext cx="2381250" cy="571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0" y="23431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Parallel PPO training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67500" y="2819400"/>
            <a:ext cx="19621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Thousands of simulated rollouts run on GPU, and RSL-RL updates the actor-critic policy from reward feedback.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77350" y="2076450"/>
            <a:ext cx="2095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77350" y="2076450"/>
            <a:ext cx="2095500" cy="571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486900" y="234315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Evaluation outputs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486900" y="2819400"/>
            <a:ext cx="16764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final artifacts are policy checkpoints, TensorBoard curves, and recorded rollout videos for the demo.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257550" y="3028950"/>
            <a:ext cx="3238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76950" y="3028950"/>
            <a:ext cx="3238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896350" y="3028950"/>
            <a:ext cx="3238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676400" y="4762500"/>
            <a:ext cx="8839200" cy="7239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038350" y="4981575"/>
            <a:ext cx="811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1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1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Why this matters: one PPO pipeline supports a consistent flat-vs-rough comparison.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ECE 489 / ME 446 Final Project | Learning-Based Quadruped Locomotion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333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TRAINING SETUP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00075"/>
            <a:ext cx="990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Flat and rough policies were trained separately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52525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two-task setup gives a clean comparison between baseline walking and terrain-aware walking.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2400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057400"/>
            <a:ext cx="20002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57400"/>
            <a:ext cx="47625" cy="1162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2190750"/>
            <a:ext cx="17145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1024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2562225"/>
            <a:ext cx="17145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parallel envs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52500" y="2800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used for training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143250" y="2057400"/>
            <a:ext cx="20002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143250" y="2057400"/>
            <a:ext cx="47625" cy="11620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14700" y="2190750"/>
            <a:ext cx="17145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cuda:0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314700" y="2562225"/>
            <a:ext cx="17145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GPU device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314700" y="2800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RTX 4060 laptop GPU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05450" y="2057400"/>
            <a:ext cx="20002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505450" y="2057400"/>
            <a:ext cx="47625" cy="1162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676900" y="2190750"/>
            <a:ext cx="17145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42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76900" y="2562225"/>
            <a:ext cx="17145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random seed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676900" y="2800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same seed for final runs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67650" y="2057400"/>
            <a:ext cx="20002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67650" y="2057400"/>
            <a:ext cx="47625" cy="1162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039100" y="2190750"/>
            <a:ext cx="17145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video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39100" y="2562225"/>
            <a:ext cx="17145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rollout record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039100" y="2800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headless video capture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3810000"/>
            <a:ext cx="4191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362075" y="40767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Flat terrain run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62075" y="45529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33525" y="4476750"/>
            <a:ext cx="323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Isaac-Velocity-Flat-Unitree-Go1-v0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362075" y="48387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533525" y="4762500"/>
            <a:ext cx="323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final checkpoint: model_799.pt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362075" y="51244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533525" y="5048250"/>
            <a:ext cx="323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no height scan or terrain curriculum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191250" y="3810000"/>
            <a:ext cx="4191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486525" y="40767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Rough terrain run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486525" y="45529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657975" y="4476750"/>
            <a:ext cx="323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Isaac-Velocity-Rough-Unitree-Go1-v0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486525" y="483870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57975" y="4762500"/>
            <a:ext cx="323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final checkpoint: model_1499.pt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486525" y="51244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657975" y="5048250"/>
            <a:ext cx="323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height scan and curriculum enabled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ECE 489 / ME 446 Final Project | Learning-Based Quadruped Locomotion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333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ROBUSTNESS DESIGN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00075"/>
            <a:ext cx="990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Reward shaping and curriculum improve robustness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52525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Default Isaac Lab reward terms were adjusted to emphasize velocity tracking, regular stepping, and safer contacts.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2400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000250"/>
            <a:ext cx="304800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76325" y="23050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Domain randomization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76325" y="29527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47775" y="2876550"/>
            <a:ext cx="219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friction range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76325" y="33337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47775" y="3257550"/>
            <a:ext cx="219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base mass variation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76325" y="37147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47775" y="3638550"/>
            <a:ext cx="219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motor strength scaling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76325" y="40957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47775" y="4019550"/>
            <a:ext cx="219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observation corruption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72000" y="2000250"/>
            <a:ext cx="304800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867275" y="23050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Terrain curriculum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867275" y="29527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038725" y="2876550"/>
            <a:ext cx="219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begin with easier terrain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867275" y="33337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38725" y="3257550"/>
            <a:ext cx="219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increase terrain difficulty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867275" y="37147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038725" y="3638550"/>
            <a:ext cx="219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height scan for local terrain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67275" y="40957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038725" y="4019550"/>
            <a:ext cx="219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roll out on generated rough terrain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62950" y="2000250"/>
            <a:ext cx="304800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658225" y="23050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Reward shaping changes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658225" y="29527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829675" y="2876550"/>
            <a:ext cx="219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stronger velocity tracking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58225" y="33337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829675" y="3257550"/>
            <a:ext cx="219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feet air-time tuned for gait rhythm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658225" y="37147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829675" y="3638550"/>
            <a:ext cx="219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torque and acceleration penalties tuned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658225" y="40957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829675" y="4019550"/>
            <a:ext cx="219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contact penalties adjusted for stability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562100" y="5476875"/>
            <a:ext cx="9048750" cy="495300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857375" y="5629275"/>
            <a:ext cx="84772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Example tuning: linear velocity tracking was increased to 1.5 and yaw tracking to 0.75, while effort and contact penalties constrained unstable motion.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ECE 489 / ME 446 Final Project | Learning-Based Quadruped Locomotion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333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DEMO CONDITION 1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00075"/>
            <a:ext cx="990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Flat policy produces stable forward locomotion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52525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flat task tests the learned gait under a clean plane condition.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2400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1885950"/>
            <a:ext cx="6572250" cy="3981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1962150"/>
            <a:ext cx="6400800" cy="360045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857250" y="5638800"/>
            <a:ext cx="6343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result video: flat policy after 800 learning iterations.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67650" y="2228850"/>
            <a:ext cx="2952750" cy="2400300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53400" y="2514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What to observe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53400" y="3000375"/>
            <a:ext cx="2286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Regular quadruped gait, upright posture, and steady forward progress.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53400" y="3943350"/>
            <a:ext cx="228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condition verifies the basic locomotion controller.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ECE 489 / ME 446 Final Project | Learning-Based Quadruped Locomotion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333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DEMO CONDITION 2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00075"/>
            <a:ext cx="990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Rough policy traverses generated terrain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52525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rough task adds elevation changes and terrain height observations.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2400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1885950"/>
            <a:ext cx="6572250" cy="3981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1962150"/>
            <a:ext cx="6400800" cy="360045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857250" y="5638800"/>
            <a:ext cx="6343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result video: rough policy after 1500 learning iterations.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67650" y="2228850"/>
            <a:ext cx="2952750" cy="2400300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53400" y="2514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What to observe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53400" y="3000375"/>
            <a:ext cx="228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Terrain-aware observations help the policy keep moving over uneven geometry.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53400" y="3943350"/>
            <a:ext cx="228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Some agents still fail, which shows rough terrain remains the harder condition.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ECE 489 / ME 446 Final Project | Learning-Based Quadruped Locomotion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333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TRAINING EVIDENCE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00075"/>
            <a:ext cx="990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Two key curves summarize learning progress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52525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Flat converges higher; rough improves under curriculum but remains lower-return.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2400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885950"/>
            <a:ext cx="4953000" cy="3257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84751"/>
            <a:ext cx="4800600" cy="1431348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800100" y="4914900"/>
            <a:ext cx="472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Mean reward: flat reaches a higher return plateau.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0" y="1885950"/>
            <a:ext cx="4953000" cy="3257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82420"/>
            <a:ext cx="4800600" cy="143601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6210300" y="4914900"/>
            <a:ext cx="472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Mean episode length: flat survives longer and more consistently.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28750" y="5334000"/>
            <a:ext cx="9334500" cy="552450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09750" y="5495925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Takeaway: the same PPO pipeline learns both policies, but rough terrain remains the harder condition.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TensorBoard logs from final training runs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333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00075"/>
            <a:ext cx="990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Flat is stable; rough is functional but harder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52525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Last-100 mean TensorBoard scalars from the final flat and rough runs.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2400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1962150"/>
            <a:ext cx="904875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962150"/>
            <a:ext cx="9048750" cy="342900"/>
          </a:xfrm>
          <a:prstGeom prst="rect">
            <a:avLst/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047875"/>
            <a:ext cx="21050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248025" y="2047875"/>
            <a:ext cx="12477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Flat terrain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724400" y="2047875"/>
            <a:ext cx="13430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Rough terrain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96025" y="2047875"/>
            <a:ext cx="34385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2409825"/>
            <a:ext cx="21050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Mean reward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48025" y="2409825"/>
            <a:ext cx="12477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30.716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24400" y="2409825"/>
            <a:ext cx="13430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15.883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96025" y="2409825"/>
            <a:ext cx="34385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flat task reaches higher return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0100" y="2743200"/>
            <a:ext cx="9048750" cy="438150"/>
          </a:xfrm>
          <a:prstGeom prst="rect">
            <a:avLst/>
          </a:prstGeom>
          <a:solidFill>
            <a:srgbClr val="F1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4400" y="2847975"/>
            <a:ext cx="21050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Episode length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248025" y="2847975"/>
            <a:ext cx="12477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971.488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724400" y="2847975"/>
            <a:ext cx="13430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808.395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96025" y="2847975"/>
            <a:ext cx="34385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flat policy survives longer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4400" y="3286125"/>
            <a:ext cx="21050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Velocity XY error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248025" y="3286125"/>
            <a:ext cx="12477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0.223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724400" y="3286125"/>
            <a:ext cx="13430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60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0.392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96025" y="3286125"/>
            <a:ext cx="34385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tracking is harder on rough terrain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00100" y="3619500"/>
            <a:ext cx="9048750" cy="438150"/>
          </a:xfrm>
          <a:prstGeom prst="rect">
            <a:avLst/>
          </a:prstGeom>
          <a:solidFill>
            <a:srgbClr val="F1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4400" y="3724275"/>
            <a:ext cx="21050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Yaw error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248025" y="3724275"/>
            <a:ext cx="12477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0.398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724400" y="3724275"/>
            <a:ext cx="13430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60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0.444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96025" y="3724275"/>
            <a:ext cx="34385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rough terrain is slightly worse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14400" y="4162425"/>
            <a:ext cx="21050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Base contact termination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248025" y="4162425"/>
            <a:ext cx="12477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0.037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724400" y="4162425"/>
            <a:ext cx="13430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60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0.315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296025" y="4162425"/>
            <a:ext cx="34385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rough policy has more body contact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0100" y="4495800"/>
            <a:ext cx="9048750" cy="438150"/>
          </a:xfrm>
          <a:prstGeom prst="rect">
            <a:avLst/>
          </a:prstGeom>
          <a:solidFill>
            <a:srgbClr val="F1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14400" y="4600575"/>
            <a:ext cx="21050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Terrain curriculum level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248025" y="4600575"/>
            <a:ext cx="12477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724400" y="4600575"/>
            <a:ext cx="13430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4.546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296025" y="4600575"/>
            <a:ext cx="34385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rough run progresses through curriculum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476875"/>
            <a:ext cx="9048750" cy="4953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857375" y="5638800"/>
            <a:ext cx="85725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Result summary: the flat policy is stable and clean, while the rough policy shows learned traversal with reduced robustness.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ECE 489 / ME 446 Final Project | Learning-Based Quadruped Locomotion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333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00075"/>
            <a:ext cx="990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Rough-terrain robustness is the main challenge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52525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final policy satisfies the two-condition demo requirement and shows clear improvement targets.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2400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2019300"/>
            <a:ext cx="300037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233362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Strengths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29527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95400" y="2876550"/>
            <a:ext cx="2143125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stable flat walking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3528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3276600"/>
            <a:ext cx="2143125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PPO training pipeline works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37528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95400" y="3676650"/>
            <a:ext cx="2143125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rough terrain traversal is visible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41529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95400" y="4076700"/>
            <a:ext cx="2143125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reproducible checkpoints and rollout videos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91050" y="2019300"/>
            <a:ext cx="300037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895850" y="2333625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Failure modes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895850" y="2952750"/>
            <a:ext cx="66675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067300" y="2876550"/>
            <a:ext cx="2143125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more body contact on rough terrain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895850" y="3352800"/>
            <a:ext cx="66675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67300" y="3276600"/>
            <a:ext cx="2143125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weaker velocity tracking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895850" y="3752850"/>
            <a:ext cx="66675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067300" y="3676650"/>
            <a:ext cx="2143125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shorter episodes with terrain variation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95850" y="4152900"/>
            <a:ext cx="66675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067300" y="4076700"/>
            <a:ext cx="2143125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reward tuning affects posture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62950" y="2019300"/>
            <a:ext cx="300037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667750" y="2333625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Project contributions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667750" y="29527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839200" y="2876550"/>
            <a:ext cx="2143125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custom Go1 task configuration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0" y="335280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839200" y="3276600"/>
            <a:ext cx="2143125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flat and rough terrain policies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667750" y="37528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839200" y="3676650"/>
            <a:ext cx="2143125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training curves and checkpoints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667750" y="415290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839200" y="4076700"/>
            <a:ext cx="2143125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recorded rollout demo under two conditions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ECE 489 / ME 446 Final Project | Learning-Based Quadruped Locomotion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685800"/>
            <a:ext cx="495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Conclusion and Demo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381125"/>
            <a:ext cx="9620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rPr>
              <a:t>We trained PPO policies for Unitree Go1 in Isaac Lab and demonstrated walking under both flat and rough terrain conditions.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2571750"/>
            <a:ext cx="2286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2571750"/>
            <a:ext cx="47625" cy="11811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705100"/>
            <a:ext cx="2000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flat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3076575"/>
            <a:ext cx="20002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stable baseline condition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33147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clean forward gait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19500" y="2571750"/>
            <a:ext cx="2286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19500" y="2571750"/>
            <a:ext cx="47625" cy="11811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90950" y="2705100"/>
            <a:ext cx="2000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rough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90950" y="3076575"/>
            <a:ext cx="20002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challenging condition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90950" y="33147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terrain-aware traversal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62700" y="2571750"/>
            <a:ext cx="2286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62700" y="2571750"/>
            <a:ext cx="47625" cy="1181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34150" y="2705100"/>
            <a:ext cx="2000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PPO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534150" y="3076575"/>
            <a:ext cx="20002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learning controller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34150" y="33147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joint-position policy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05900" y="2571750"/>
            <a:ext cx="1905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05900" y="2571750"/>
            <a:ext cx="47625" cy="11811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277350" y="2705100"/>
            <a:ext cx="1619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Go1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277350" y="3076575"/>
            <a:ext cx="16192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robot platform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277350" y="33147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12-DoF quadruped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428750" y="4714875"/>
            <a:ext cx="9334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809750" y="49339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Recorded demo order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095750" y="49530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6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1. Flat final policy video    2. Rough final policy video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04850" y="5953125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endParaRPr sz="2325" b="1">
              <a:solidFill>
                <a:srgbClr val="2563E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ECE 489 / ME 446 Final Project | Learning-Based Quadruped Locomotion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333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TECHNICAL BACKUP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00075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6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Isaac Lab manager terms used in final runs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23950"/>
            <a:ext cx="1009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backup slide summarizes the active observations, rewards, terminations, and curriculum terms behind the flat and rough policies.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0495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885950"/>
            <a:ext cx="32766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885950"/>
            <a:ext cx="327660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076450"/>
            <a:ext cx="2933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1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21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Flat policy MDP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4193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Observation: 48-D policy input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6860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Terrain context: no height scan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29527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Action: 12-D joint position command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32194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Curriculum: none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57700" y="1885950"/>
            <a:ext cx="32766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57700" y="1885950"/>
            <a:ext cx="327660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29150" y="2076450"/>
            <a:ext cx="2933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15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215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Rough policy MDP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629150" y="24193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Observation: 235-D policy input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29150" y="26860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Terrain context: 187-D height scan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629150" y="29527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Action: 12-D joint position command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629150" y="32194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Curriculum: terrain levels enabled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229600" y="1885950"/>
            <a:ext cx="32766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229600" y="1885950"/>
            <a:ext cx="32766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401050" y="2076450"/>
            <a:ext cx="2933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1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21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Shared managers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401050" y="24193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Command: base velocity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401050" y="26860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Events: friction, mass, motor strength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401050" y="29527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Push: external push every 10-15 s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01050" y="321945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Termination: time out and base contact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5800" y="3962400"/>
            <a:ext cx="5095875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85800" y="3962400"/>
            <a:ext cx="5095875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95350" y="41719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1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21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Key reward weights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5350" y="4638675"/>
            <a:ext cx="57150" cy="571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47750" y="4572000"/>
            <a:ext cx="43338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velocity tracking: linear 1.5, yaw 0.75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95350" y="4895850"/>
            <a:ext cx="57150" cy="571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47750" y="4829175"/>
            <a:ext cx="43338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stability penalties: vertical velocity -2.0, roll/pitch angular velocity -0.05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95350" y="5153025"/>
            <a:ext cx="57150" cy="571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47750" y="5086350"/>
            <a:ext cx="43338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effort penalties: torque -0.0002, acceleration -2.5e-7, action rate -0.01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95350" y="5410200"/>
            <a:ext cx="57150" cy="571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047750" y="5343525"/>
            <a:ext cx="43338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gait shaping: feet air-time reward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400800" y="3962400"/>
            <a:ext cx="5105400" cy="17907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400800" y="3962400"/>
            <a:ext cx="5105400" cy="47625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610350" y="41719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15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215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What changed from defaults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610350" y="4638675"/>
            <a:ext cx="57150" cy="5715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762750" y="457200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linear velocity tracking increased from 1.0 to 1.5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610350" y="4895850"/>
            <a:ext cx="57150" cy="5715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762750" y="482917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yaw tracking increased from 0.5 to 0.75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610350" y="5153025"/>
            <a:ext cx="57150" cy="5715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762750" y="50863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flat policy uses stronger orientation and feet air-time shaping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610350" y="5410200"/>
            <a:ext cx="57150" cy="5715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762750" y="534352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rough policy relies on height scan and terrain curriculum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Technical backup | Isaac Lab manager summaries from final flat and rough runs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1435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Technical Backup: Training and Playback Commands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6205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1504950"/>
            <a:ext cx="5238750" cy="150495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504950"/>
            <a:ext cx="52387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1657350"/>
            <a:ext cx="4895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TRAIN ROUGH TERRAIN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1914525"/>
            <a:ext cx="48958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isaaclab.bat -p scripts\reinforcement_learning\rsl_rl\train.py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--task Isaac-Velocity-Rough-Unitree-Go1-v0 --num_envs 1024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--device cuda:0 --max_iterations 1500 --seed 42 --video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--video_length 200 --video_interval 100 --headless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48400" y="1504950"/>
            <a:ext cx="5238750" cy="150495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48400" y="1504950"/>
            <a:ext cx="52387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19850" y="1657350"/>
            <a:ext cx="4895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TRAIN FLAT TERRAIN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19850" y="1914525"/>
            <a:ext cx="48958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isaaclab.bat -p scripts\reinforcement_learning\rsl_rl\train.py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--task Isaac-Velocity-Flat-Unitree-Go1-v0 --num_envs 1024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--device cuda:0 --max_iterations 800 --seed 42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--video --headless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4850" y="3371850"/>
            <a:ext cx="5238750" cy="165735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3371850"/>
            <a:ext cx="52387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76300" y="3524250"/>
            <a:ext cx="4895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PLAY ROUGH TERRAIN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3781425"/>
            <a:ext cx="48958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isaaclab.bat -p scripts\reinforcement_learning\rsl_rl\play.py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--task Isaac-Velocity-Rough-Unitree-Go1-v0 --num_envs 512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--device cuda:0 --checkpoint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logs\rsl_rl\unitree_go1_rough\2026-05-25_17-21-50\model_1499.pt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--video --video_length 1000 --enable_cameras --headless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48400" y="3371850"/>
            <a:ext cx="5238750" cy="165735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48400" y="3371850"/>
            <a:ext cx="52387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19850" y="3524250"/>
            <a:ext cx="4895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PLAY FLAT TERRAIN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19850" y="3781425"/>
            <a:ext cx="48958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isaaclab.bat -p scripts\reinforcement_learning\rsl_rl\play.py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--task Isaac-Velocity-Flat-Unitree-Go1-v0 --num_envs 512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--device cuda:0 --checkpoint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logs\rsl_rl\unitree_go1_flat\2026-05-25_22-04-58\model_799.pt</a:t>
            </a:r>
          </a:p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--video --video_length 1000 --enable_cameras --headless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743200" y="5372100"/>
            <a:ext cx="6705600" cy="66675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743200" y="5372100"/>
            <a:ext cx="67056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914650" y="5524500"/>
            <a:ext cx="6362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TENSORBOARD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914650" y="5781675"/>
            <a:ext cx="6362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00" b="0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tensorboard --logdir=C:\IsaacLab\logs\rsl_rl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Technical backup | Run commands used for final training, playback, and TensorBoard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143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Technical Backup: Reward Shaping Configuration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000125"/>
            <a:ext cx="1009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default locomotion reward terms were adjusted to prioritize velocity tracking, stable posture, gait rhythm, and lower effort.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39065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695450"/>
            <a:ext cx="5105400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438" y="1771650"/>
            <a:ext cx="3912124" cy="31623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00100" y="4972050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4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Reward terms in the locomotion MDP: tracking rewards, stability penalties, effort penalties, and foot air-time.</a:t>
            </a:r>
            <a:r>
              <a:rPr lang="en-US" sz="84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(inside velocity environment configuration file)</a:t>
            </a:r>
            <a:endParaRPr sz="84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00800" y="1695450"/>
            <a:ext cx="4476750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842768"/>
            <a:ext cx="4324350" cy="1210314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515100" y="3200400"/>
            <a:ext cx="424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4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reward overrides used for the tuned runs</a:t>
            </a:r>
            <a:r>
              <a:rPr lang="en-US" sz="84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(rough terrain)</a:t>
            </a:r>
            <a:r>
              <a:rPr sz="84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00800" y="3619500"/>
            <a:ext cx="447675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8341" y="3988690"/>
            <a:ext cx="4161668" cy="65227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6515100" y="5010150"/>
            <a:ext cx="424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84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reward overrides used for the tuned runs (flat terrain).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19250" y="5581650"/>
            <a:ext cx="8953500" cy="4191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924050" y="5667375"/>
            <a:ext cx="838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6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Summary: stronger tracking rewards encourage commanded motion; penalties discourage unstable vertical motion, excessive torque, and poor contact behavior.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Technical backup | Reward shaping changes from final configuration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74DBA-3815-5049-1D70-44B3660AE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4CEBE09-BF5D-A24E-CD36-0897639AA2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0B78E5-49B1-F027-89C2-F961BB7ABB1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Technical Backup: Reward Shaping Configuration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F1A765-A69A-1570-8B90-92A6348F8C86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09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default locomotion reward terms were adjusted to prioritize velocity tracking, stable posture, gait rhythm, and lower effort.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91A69B-AC76-E270-7268-68F9C0C7CC95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32A49C-8E5F-9F28-5FF1-87115C57B44B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5105400" cy="426529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747FF17-3A81-E049-DA1C-2CA83A09C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1650" y="1712545"/>
            <a:ext cx="3389630" cy="422979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864F9A1-0389-B8EA-C02E-809441813373}"/>
              </a:ext>
            </a:extLst>
          </p:cNvPr>
          <p:cNvSpPr>
            <a:spLocks noGrp="1"/>
          </p:cNvSpPr>
          <p:nvPr/>
        </p:nvSpPr>
        <p:spPr>
          <a:xfrm>
            <a:off x="781050" y="5765483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84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PPO configuration</a:t>
            </a:r>
            <a:endParaRPr sz="84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6A6DD0-A7AF-715F-D64B-C898566F7152}"/>
              </a:ext>
            </a:extLst>
          </p:cNvPr>
          <p:cNvSpPr>
            <a:spLocks noGrp="1"/>
          </p:cNvSpPr>
          <p:nvPr/>
        </p:nvSpPr>
        <p:spPr>
          <a:xfrm>
            <a:off x="6400800" y="1695450"/>
            <a:ext cx="4476750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631F666-E505-BD11-DD22-EF49CA8CA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842768"/>
            <a:ext cx="4324350" cy="121031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3B604EF-961E-2456-4508-CB3E96D14C69}"/>
              </a:ext>
            </a:extLst>
          </p:cNvPr>
          <p:cNvSpPr>
            <a:spLocks noGrp="1"/>
          </p:cNvSpPr>
          <p:nvPr/>
        </p:nvSpPr>
        <p:spPr>
          <a:xfrm>
            <a:off x="6515100" y="3200400"/>
            <a:ext cx="424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4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reward overrides used for the tuned runs</a:t>
            </a:r>
            <a:r>
              <a:rPr lang="en-US" sz="84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(rough terrain)</a:t>
            </a:r>
            <a:r>
              <a:rPr sz="84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26E9B4-1C7B-81FB-D413-5449CE77E4A0}"/>
              </a:ext>
            </a:extLst>
          </p:cNvPr>
          <p:cNvSpPr>
            <a:spLocks noGrp="1"/>
          </p:cNvSpPr>
          <p:nvPr/>
        </p:nvSpPr>
        <p:spPr>
          <a:xfrm>
            <a:off x="6400800" y="3619500"/>
            <a:ext cx="447675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5581CF7-59B3-29BB-9FD1-FADF4E5FC4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8341" y="3988690"/>
            <a:ext cx="4161668" cy="65227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B06788E-87AE-7D4B-A60C-AB43FAFF0458}"/>
              </a:ext>
            </a:extLst>
          </p:cNvPr>
          <p:cNvSpPr>
            <a:spLocks noGrp="1"/>
          </p:cNvSpPr>
          <p:nvPr/>
        </p:nvSpPr>
        <p:spPr>
          <a:xfrm>
            <a:off x="6515100" y="5010150"/>
            <a:ext cx="424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84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reward overrides used for the tuned runs (flat terrain).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50B9B5-DB4E-9C3C-7175-7CFF1209134A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Technical backup | Reward shaping changes from final configuration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8EA32F-B8B9-ACD8-B9F5-84E237A0EB90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92105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340C3-24F7-9DDE-1005-6F1198CD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AF533E-5136-C4C0-D7B4-DE5E1ED377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560837-26BF-5D45-7A7A-0CEE749E0AF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Technical Backup: </a:t>
            </a:r>
            <a:r>
              <a:rPr lang="en-US" sz="225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training details (rough)</a:t>
            </a:r>
            <a:endParaRPr sz="2250" b="1" dirty="0">
              <a:solidFill>
                <a:srgbClr val="0F17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ABCF82-296F-7A01-CD59-1BBF228CEDA7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09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6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default locomotion reward terms were adjusted to prioritize velocity tracking, stable posture, gait rhythm, and lower effort.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050433-6F3C-178D-0003-14C0611F7F37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96F785-BCA8-399B-3703-A0FA2AC6720C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5238120" cy="467025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1B31A1-EFC9-44F3-2030-4907CFC5F59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Technical backup | Reward shaping changes from final configuration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DAF21B-3B71-8F3E-8B5D-27918C32F714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" name="矩形 5">
            <a:extLst>
              <a:ext uri="{FF2B5EF4-FFF2-40B4-BE49-F238E27FC236}">
                <a16:creationId xmlns:a16="http://schemas.microsoft.com/office/drawing/2014/main" id="{DF093007-B1E7-25E8-50ED-9DF1A9D2BB14}"/>
              </a:ext>
            </a:extLst>
          </p:cNvPr>
          <p:cNvSpPr>
            <a:spLocks noGrp="1"/>
          </p:cNvSpPr>
          <p:nvPr/>
        </p:nvSpPr>
        <p:spPr>
          <a:xfrm>
            <a:off x="6344279" y="1690537"/>
            <a:ext cx="5105400" cy="467025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矩形 7">
            <a:extLst>
              <a:ext uri="{FF2B5EF4-FFF2-40B4-BE49-F238E27FC236}">
                <a16:creationId xmlns:a16="http://schemas.microsoft.com/office/drawing/2014/main" id="{0DBA835C-BF16-176C-C56E-C7321B280462}"/>
              </a:ext>
            </a:extLst>
          </p:cNvPr>
          <p:cNvSpPr>
            <a:spLocks noGrp="1"/>
          </p:cNvSpPr>
          <p:nvPr/>
        </p:nvSpPr>
        <p:spPr>
          <a:xfrm>
            <a:off x="781051" y="2214288"/>
            <a:ext cx="5142870" cy="31609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[INFO] Action Manager:  &lt;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ActionManager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&gt; contains 1 active terms.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+------------------------------------+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Active Action Terms (shape: 12)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+--------+-------------+-------------+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Index  | Name        |   Dimension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+--------+-------------+-------------+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0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joint_pos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|          12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+--------+-------------+-------------+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lang="en-US" sz="1000" b="1" dirty="0">
              <a:solidFill>
                <a:srgbClr val="475569"/>
              </a:solidFill>
              <a:latin typeface="Courier New" panose="02070309020205020404" pitchFamily="49" charset="0"/>
              <a:ea typeface="Aptos"/>
              <a:cs typeface="Courier New" panose="02070309020205020404" pitchFamily="49" charset="0"/>
            </a:endParaRP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[INFO] Observation Manager: &lt;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ObservationManager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&gt; contains 1 groups.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+----------------------------------------------------------+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Active Observation Terms in Group: 'policy' (shape: (235,))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+-----------+--------------------------------+-------------+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Index   | Name                           |    Shape 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+-----------+--------------------------------+-------------+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0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base_lin_vel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     |     (3,) 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1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base_ang_vel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     |     (3,) 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2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projected_gravity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|     (3,) 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3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velocity_commands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|     (3,) 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4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joint_pos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        |    (12,) 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5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joint_vel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        |    (12,) 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6     | actions                        |    (12,) 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7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height_scan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      |    (187,)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+-----------+--------------------------------+-------------+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lang="en-US" sz="1000" b="1" dirty="0">
              <a:solidFill>
                <a:srgbClr val="475569"/>
              </a:solidFill>
              <a:latin typeface="Courier New" panose="02070309020205020404" pitchFamily="49" charset="0"/>
              <a:ea typeface="Aptos"/>
              <a:cs typeface="Courier New" panose="02070309020205020404" pitchFamily="49" charset="0"/>
            </a:endParaRPr>
          </a:p>
        </p:txBody>
      </p:sp>
      <p:sp>
        <p:nvSpPr>
          <p:cNvPr id="22" name="矩形 7">
            <a:extLst>
              <a:ext uri="{FF2B5EF4-FFF2-40B4-BE49-F238E27FC236}">
                <a16:creationId xmlns:a16="http://schemas.microsoft.com/office/drawing/2014/main" id="{E9EA2C4B-4CCA-46E3-85B2-6050CE66EC5E}"/>
              </a:ext>
            </a:extLst>
          </p:cNvPr>
          <p:cNvSpPr>
            <a:spLocks noGrp="1"/>
          </p:cNvSpPr>
          <p:nvPr/>
        </p:nvSpPr>
        <p:spPr>
          <a:xfrm>
            <a:off x="6438270" y="1899963"/>
            <a:ext cx="4972679" cy="31609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[INFO] Termination Manager:  &lt;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TerminationManager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&gt; contains 2 active terms.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+---------------------------------+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Active Termination Terms 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+-------+--------------+----------+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Index | Name         | Time Out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+-------+--------------+----------+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0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time_out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|   True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1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base_contact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|  False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+-------+--------------+----------+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[INFO] Reward Manager:  &lt;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RewardManager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&gt; contains 10 active terms.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+-----------------------------------------+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      Active Reward Terms        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+-------+----------------------+----------+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Index | Name                 |   Weight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+-------+----------------------+----------+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0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track_lin_vel_xy_exp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|      1.5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1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track_ang_vel_z_exp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|     0.75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2   | lin_vel_z_l2         |     -2.0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3   | ang_vel_xy_l2        |    -0.05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4   | dof_torques_l2       |  -0.0002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5   | dof_acc_l2           | -2.5e-07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6   | action_rate_l2       |    -0.01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7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feet_air_time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|     0.01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8   | flat_orientation_l2  |      0.0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9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dof_pos_limits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|      0.0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+-------+----------------------+----------+</a:t>
            </a:r>
          </a:p>
        </p:txBody>
      </p:sp>
    </p:spTree>
    <p:extLst>
      <p:ext uri="{BB962C8B-B14F-4D97-AF65-F5344CB8AC3E}">
        <p14:creationId xmlns:p14="http://schemas.microsoft.com/office/powerpoint/2010/main" val="2372951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98900-C115-3877-DD77-BECD4EEF6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60B9C5-287F-2E46-C191-BFE860186F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24068F-E2C3-A269-16D5-5B24C89FED5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Technical Backup: </a:t>
            </a:r>
            <a:r>
              <a:rPr lang="en-US" sz="225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training details (flat)</a:t>
            </a:r>
            <a:endParaRPr sz="2250" b="1" dirty="0">
              <a:solidFill>
                <a:srgbClr val="0F17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283EF5-185C-B4D6-ADFE-2BCA0273DE1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09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6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default locomotion reward terms were adjusted to prioritize velocity tracking, stable posture, gait rhythm, and lower effort.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693039-7E5F-FBA6-8D2B-1964FBF5286F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E7C606-0438-B3E0-E651-A39EB90032B8}"/>
              </a:ext>
            </a:extLst>
          </p:cNvPr>
          <p:cNvSpPr>
            <a:spLocks noGrp="1"/>
          </p:cNvSpPr>
          <p:nvPr/>
        </p:nvSpPr>
        <p:spPr>
          <a:xfrm>
            <a:off x="685800" y="1695449"/>
            <a:ext cx="5238120" cy="467025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A15A8D-FD76-DA3D-9DFF-397633A0AD2C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838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Technical backup | Reward shaping changes from final configuration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0E8425-9008-EF02-CE8E-AA1A0FD3F860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" name="矩形 5">
            <a:extLst>
              <a:ext uri="{FF2B5EF4-FFF2-40B4-BE49-F238E27FC236}">
                <a16:creationId xmlns:a16="http://schemas.microsoft.com/office/drawing/2014/main" id="{6C186C00-3C91-6B7F-95AB-D00E8D2267F4}"/>
              </a:ext>
            </a:extLst>
          </p:cNvPr>
          <p:cNvSpPr>
            <a:spLocks noGrp="1"/>
          </p:cNvSpPr>
          <p:nvPr/>
        </p:nvSpPr>
        <p:spPr>
          <a:xfrm>
            <a:off x="6344279" y="1690537"/>
            <a:ext cx="5105400" cy="467025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矩形 7">
            <a:extLst>
              <a:ext uri="{FF2B5EF4-FFF2-40B4-BE49-F238E27FC236}">
                <a16:creationId xmlns:a16="http://schemas.microsoft.com/office/drawing/2014/main" id="{F4CE8FEA-7ACC-7CCD-BAC0-4114C4ABF677}"/>
              </a:ext>
            </a:extLst>
          </p:cNvPr>
          <p:cNvSpPr>
            <a:spLocks noGrp="1"/>
          </p:cNvSpPr>
          <p:nvPr/>
        </p:nvSpPr>
        <p:spPr>
          <a:xfrm>
            <a:off x="781051" y="2214288"/>
            <a:ext cx="5142870" cy="31609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[INFO] Action Manager:  &lt;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ActionManager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&gt; contains 1 active terms.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+------------------------------------+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Active Action Terms (shape: 12)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+--------+-------------+-------------+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Index  | Name        |   Dimension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+--------+-------------+-------------+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0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joint_pos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|          12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+--------+-------------+-------------+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lang="en-US" sz="1000" b="1" dirty="0">
              <a:solidFill>
                <a:srgbClr val="475569"/>
              </a:solidFill>
              <a:latin typeface="Courier New" panose="02070309020205020404" pitchFamily="49" charset="0"/>
              <a:ea typeface="Aptos"/>
              <a:cs typeface="Courier New" panose="02070309020205020404" pitchFamily="49" charset="0"/>
            </a:endParaRP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[INFO] Observation Manager: &lt;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ObservationManager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&gt; contains 1 groups.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+---------------------------------------------------------+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Active Observation Terms in Group: 'policy' (shape: (48,))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+-----------+---------------------------------+-----------+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Index   | Name                            |   Shape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+-----------+---------------------------------+-----------+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0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base_lin_vel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      |    (3,)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1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base_ang_vel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      |    (3,)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2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projected_gravity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 |    (3,)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3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velocity_commands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 |    (3,)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4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joint_pos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         |   (12,)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5  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joint_vel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               |   (12,)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6     | actions                         |   (12,)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+-----------+---------------------------------+-----------+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lang="en-US" sz="1000" b="1" dirty="0">
              <a:solidFill>
                <a:srgbClr val="475569"/>
              </a:solidFill>
              <a:latin typeface="Courier New" panose="02070309020205020404" pitchFamily="49" charset="0"/>
              <a:ea typeface="Aptos"/>
              <a:cs typeface="Courier New" panose="02070309020205020404" pitchFamily="49" charset="0"/>
            </a:endParaRPr>
          </a:p>
        </p:txBody>
      </p:sp>
      <p:sp>
        <p:nvSpPr>
          <p:cNvPr id="22" name="矩形 7">
            <a:extLst>
              <a:ext uri="{FF2B5EF4-FFF2-40B4-BE49-F238E27FC236}">
                <a16:creationId xmlns:a16="http://schemas.microsoft.com/office/drawing/2014/main" id="{61B10874-87B6-89FA-CBC0-3296EB8DA9A4}"/>
              </a:ext>
            </a:extLst>
          </p:cNvPr>
          <p:cNvSpPr>
            <a:spLocks noGrp="1"/>
          </p:cNvSpPr>
          <p:nvPr/>
        </p:nvSpPr>
        <p:spPr>
          <a:xfrm>
            <a:off x="6438270" y="1899963"/>
            <a:ext cx="4972679" cy="31609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[INFO] Termination Manager:  &lt;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TerminationManager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&gt; contains 2 active terms.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+---------------------------------+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Active Termination Terms 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+-------+--------------+----------+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Index | Name         | Time Out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+-------+--------------+----------+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0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time_out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|   True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1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base_contact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|  False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+-------+--------------+----------+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[INFO] Reward Manager:  &lt;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RewardManager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&gt; contains 10 active terms.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+-----------------------------------------+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        Active Reward Terms          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+-------+----------------------+----------+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Index | Name                 |   Weight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+-------+----------------------+----------+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0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track_lin_vel_xy_exp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|      1.5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1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track_ang_vel_z_exp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|     0.75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2   | lin_vel_z_l2         |     -2.0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3   | ang_vel_xy_l2        |    -0.05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4   | dof_torques_l2       |  -0.0002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5   | dof_acc_l2           | -2.5e-07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6   | action_rate_l2       |    -0.01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7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feet_air_time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 |     0.25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8   | flat_orientation_l2  |     -2.5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|   9   | </a:t>
            </a:r>
            <a:r>
              <a:rPr lang="en-US" sz="1000" b="1" dirty="0" err="1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dof_pos_limits</a:t>
            </a: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       |      0.0 |</a:t>
            </a:r>
          </a:p>
          <a:p>
            <a:pPr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00" b="1" dirty="0">
                <a:solidFill>
                  <a:srgbClr val="475569"/>
                </a:solidFill>
                <a:latin typeface="Courier New" panose="02070309020205020404" pitchFamily="49" charset="0"/>
                <a:ea typeface="Aptos"/>
                <a:cs typeface="Courier New" panose="02070309020205020404" pitchFamily="49" charset="0"/>
              </a:rPr>
              <a:t>+-------+----------------------+----------+</a:t>
            </a:r>
          </a:p>
        </p:txBody>
      </p:sp>
    </p:spTree>
    <p:extLst>
      <p:ext uri="{BB962C8B-B14F-4D97-AF65-F5344CB8AC3E}">
        <p14:creationId xmlns:p14="http://schemas.microsoft.com/office/powerpoint/2010/main" val="34458179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2676</Words>
  <Application>Microsoft Office PowerPoint</Application>
  <PresentationFormat>Widescreen</PresentationFormat>
  <Paragraphs>388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Calibri</vt:lpstr>
      <vt:lpstr>Consolas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Soghomonyan, Hayk</cp:lastModifiedBy>
  <cp:revision>4</cp:revision>
  <dcterms:created xsi:type="dcterms:W3CDTF">2026-05-26T13:39:59Z</dcterms:created>
  <dcterms:modified xsi:type="dcterms:W3CDTF">2026-05-26T14:06:03Z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6D2626AA5E4741E3A5143B9559CB3DCA_12</vt:lpwstr>
  </property>
  <property fmtid="{D5CDD505-2E9C-101B-9397-08002B2CF9AE}" pid="3" name="KSOProductBuildVer">
    <vt:lpwstr>2052-12.1.0.26375</vt:lpwstr>
  </property>
</Properties>
</file>